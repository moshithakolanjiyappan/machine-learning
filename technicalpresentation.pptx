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" charset="1" panose="02020603050405020304"/>
      <p:regular r:id="rId12"/>
    </p:embeddedFont>
    <p:embeddedFont>
      <p:font typeface="Times New Roman Bold" charset="1" panose="0202080307050502030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53173" y="6567000"/>
            <a:ext cx="9787168" cy="746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MOSHITHA KOLANJIYAPPAN</a:t>
            </a:r>
          </a:p>
          <a:p>
            <a:pPr algn="ctr">
              <a:lnSpc>
                <a:spcPts val="1889"/>
              </a:lnSpc>
            </a:pP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192421205</a:t>
            </a:r>
          </a:p>
          <a:p>
            <a:pPr algn="ctr">
              <a:lnSpc>
                <a:spcPts val="1889"/>
              </a:lnSpc>
            </a:pP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ITA0603-MACHINE LEARNING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84822" y="3364230"/>
            <a:ext cx="11391797" cy="239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57"/>
              </a:lnSpc>
            </a:pPr>
            <a:r>
              <a:rPr lang="en-US" b="true" sz="6730">
                <a:solidFill>
                  <a:srgbClr val="2A5D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DECISION TREE LEARNING AND REPRESENTATION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71520" y="594516"/>
            <a:ext cx="10750475" cy="144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3"/>
              </a:lnSpc>
              <a:spcBef>
                <a:spcPct val="0"/>
              </a:spcBef>
            </a:pPr>
            <a:r>
              <a:rPr lang="en-US" b="true" sz="268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SIMATS ENGINEERING</a:t>
            </a:r>
          </a:p>
          <a:p>
            <a:pPr algn="ctr">
              <a:lnSpc>
                <a:spcPts val="3763"/>
              </a:lnSpc>
              <a:spcBef>
                <a:spcPct val="0"/>
              </a:spcBef>
            </a:pPr>
            <a:r>
              <a:rPr lang="en-US" b="true" sz="268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SAVEETHA INSTITUTE OF MEDICAL AND TECHNICAL SCIENCES</a:t>
            </a:r>
          </a:p>
          <a:p>
            <a:pPr algn="ctr">
              <a:lnSpc>
                <a:spcPts val="3763"/>
              </a:lnSpc>
              <a:spcBef>
                <a:spcPct val="0"/>
              </a:spcBef>
            </a:pPr>
            <a:r>
              <a:rPr lang="en-US" b="true" sz="268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CHENNAI-602105</a:t>
            </a:r>
          </a:p>
        </p:txBody>
      </p:sp>
      <p:grpSp>
        <p:nvGrpSpPr>
          <p:cNvPr name="Group 5" id="5"/>
          <p:cNvGrpSpPr/>
          <p:nvPr/>
        </p:nvGrpSpPr>
        <p:grpSpPr>
          <a:xfrm rot="-5400000">
            <a:off x="689962" y="391754"/>
            <a:ext cx="1808531" cy="1714233"/>
            <a:chOff x="0" y="0"/>
            <a:chExt cx="2411374" cy="22856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11349" cy="2285619"/>
            </a:xfrm>
            <a:custGeom>
              <a:avLst/>
              <a:gdLst/>
              <a:ahLst/>
              <a:cxnLst/>
              <a:rect r="r" b="b" t="t" l="l"/>
              <a:pathLst>
                <a:path h="2285619" w="2411349">
                  <a:moveTo>
                    <a:pt x="0" y="0"/>
                  </a:moveTo>
                  <a:lnTo>
                    <a:pt x="2411349" y="0"/>
                  </a:lnTo>
                  <a:lnTo>
                    <a:pt x="2411349" y="2285619"/>
                  </a:lnTo>
                  <a:lnTo>
                    <a:pt x="0" y="2285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0" b="-72061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5400000">
            <a:off x="15447664" y="192453"/>
            <a:ext cx="1659484" cy="1963788"/>
            <a:chOff x="0" y="0"/>
            <a:chExt cx="2212645" cy="26183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594" cy="2618359"/>
            </a:xfrm>
            <a:custGeom>
              <a:avLst/>
              <a:gdLst/>
              <a:ahLst/>
              <a:cxnLst/>
              <a:rect r="r" b="b" t="t" l="l"/>
              <a:pathLst>
                <a:path h="2618359" w="2212594">
                  <a:moveTo>
                    <a:pt x="0" y="0"/>
                  </a:moveTo>
                  <a:lnTo>
                    <a:pt x="2212594" y="0"/>
                  </a:lnTo>
                  <a:lnTo>
                    <a:pt x="2212594" y="2618359"/>
                  </a:lnTo>
                  <a:lnTo>
                    <a:pt x="0" y="2618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t="-325541" r="0" b="-231757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33531" y="1152525"/>
            <a:ext cx="12283541" cy="136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5600">
                <a:solidFill>
                  <a:srgbClr val="2A5D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DECISION TREE LEARNING</a:t>
            </a:r>
          </a:p>
          <a:p>
            <a:pPr algn="ctr">
              <a:lnSpc>
                <a:spcPts val="504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396618" y="2249930"/>
            <a:ext cx="12951537" cy="700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1" indent="-345435" lvl="1">
              <a:lnSpc>
                <a:spcPts val="5055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supervised machine learning algorithm.</a:t>
            </a:r>
          </a:p>
          <a:p>
            <a:pPr algn="l" marL="690871" indent="-345435" lvl="1">
              <a:lnSpc>
                <a:spcPts val="5055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for classification and regression.</a:t>
            </a:r>
          </a:p>
          <a:p>
            <a:pPr algn="l" marL="690871" indent="-345435" lvl="1">
              <a:lnSpc>
                <a:spcPts val="5055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Represents decisions in a tree structure.</a:t>
            </a:r>
          </a:p>
          <a:p>
            <a:pPr algn="l" marL="690871" indent="-345435" lvl="1">
              <a:lnSpc>
                <a:spcPts val="5055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nodes represent features.</a:t>
            </a:r>
          </a:p>
          <a:p>
            <a:pPr algn="l" marL="690871" indent="-345435" lvl="1">
              <a:lnSpc>
                <a:spcPts val="5055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Branches represent decision rules.</a:t>
            </a:r>
          </a:p>
          <a:p>
            <a:pPr algn="l" marL="690871" indent="-345435" lvl="1">
              <a:lnSpc>
                <a:spcPts val="5055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Leaf nodes represent final outcomes or classes.</a:t>
            </a:r>
          </a:p>
          <a:p>
            <a:pPr algn="l">
              <a:lnSpc>
                <a:spcPts val="5055"/>
              </a:lnSpc>
            </a:pPr>
            <a:r>
              <a:rPr lang="en-US" sz="31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Working</a:t>
            </a:r>
          </a:p>
          <a:p>
            <a:pPr algn="l" marL="690871" indent="-345435" lvl="1">
              <a:lnSpc>
                <a:spcPts val="5055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the best attribute.</a:t>
            </a:r>
          </a:p>
          <a:p>
            <a:pPr algn="l" marL="690871" indent="-345435" lvl="1">
              <a:lnSpc>
                <a:spcPts val="5055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the dataset.</a:t>
            </a:r>
          </a:p>
          <a:p>
            <a:pPr algn="l" marL="690871" indent="-345435" lvl="1">
              <a:lnSpc>
                <a:spcPts val="5055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recursively.</a:t>
            </a:r>
          </a:p>
          <a:p>
            <a:pPr algn="l" marL="690871" indent="-345435" lvl="1">
              <a:lnSpc>
                <a:spcPts val="5055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Stop when all samples belong to one class.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689962" y="391754"/>
            <a:ext cx="1808531" cy="1714233"/>
            <a:chOff x="0" y="0"/>
            <a:chExt cx="2411374" cy="22856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11349" cy="2285619"/>
            </a:xfrm>
            <a:custGeom>
              <a:avLst/>
              <a:gdLst/>
              <a:ahLst/>
              <a:cxnLst/>
              <a:rect r="r" b="b" t="t" l="l"/>
              <a:pathLst>
                <a:path h="2285619" w="2411349">
                  <a:moveTo>
                    <a:pt x="0" y="0"/>
                  </a:moveTo>
                  <a:lnTo>
                    <a:pt x="2411349" y="0"/>
                  </a:lnTo>
                  <a:lnTo>
                    <a:pt x="2411349" y="2285619"/>
                  </a:lnTo>
                  <a:lnTo>
                    <a:pt x="0" y="2285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0" b="-72061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5400000">
            <a:off x="15447664" y="192453"/>
            <a:ext cx="1659484" cy="1963788"/>
            <a:chOff x="0" y="0"/>
            <a:chExt cx="2212645" cy="26183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12594" cy="2618359"/>
            </a:xfrm>
            <a:custGeom>
              <a:avLst/>
              <a:gdLst/>
              <a:ahLst/>
              <a:cxnLst/>
              <a:rect r="r" b="b" t="t" l="l"/>
              <a:pathLst>
                <a:path h="2618359" w="2212594">
                  <a:moveTo>
                    <a:pt x="0" y="0"/>
                  </a:moveTo>
                  <a:lnTo>
                    <a:pt x="2212594" y="0"/>
                  </a:lnTo>
                  <a:lnTo>
                    <a:pt x="2212594" y="2618359"/>
                  </a:lnTo>
                  <a:lnTo>
                    <a:pt x="0" y="2618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t="-325541" r="0" b="-231757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13593" y="8013224"/>
            <a:ext cx="5225455" cy="3217592"/>
          </a:xfrm>
          <a:custGeom>
            <a:avLst/>
            <a:gdLst/>
            <a:ahLst/>
            <a:cxnLst/>
            <a:rect r="r" b="b" t="t" l="l"/>
            <a:pathLst>
              <a:path h="3217592" w="5225455">
                <a:moveTo>
                  <a:pt x="0" y="0"/>
                </a:moveTo>
                <a:lnTo>
                  <a:pt x="5225455" y="0"/>
                </a:lnTo>
                <a:lnTo>
                  <a:pt x="5225455" y="3217591"/>
                </a:lnTo>
                <a:lnTo>
                  <a:pt x="0" y="32175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15539" y="431500"/>
            <a:ext cx="15443279" cy="2068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9"/>
              </a:lnSpc>
            </a:pPr>
            <a:r>
              <a:rPr lang="en-US" sz="5799">
                <a:solidFill>
                  <a:srgbClr val="2A5D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 REPRESENTATION &amp; ENTROPY</a:t>
            </a:r>
          </a:p>
          <a:p>
            <a:pPr algn="ctr">
              <a:lnSpc>
                <a:spcPts val="521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521998" y="2252628"/>
            <a:ext cx="11242654" cy="7005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391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</a:t>
            </a:r>
            <a:r>
              <a:rPr lang="en-US" sz="391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nowledge Representation</a:t>
            </a:r>
          </a:p>
          <a:p>
            <a:pPr algn="l" marL="844774" indent="-422387" lvl="1">
              <a:lnSpc>
                <a:spcPts val="6182"/>
              </a:lnSpc>
              <a:buFont typeface="Arial"/>
              <a:buChar char="•"/>
            </a:pPr>
            <a:r>
              <a:rPr lang="en-US" sz="39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Root Node → Starting decision.</a:t>
            </a:r>
          </a:p>
          <a:p>
            <a:pPr algn="l" marL="844774" indent="-422387" lvl="1">
              <a:lnSpc>
                <a:spcPts val="6182"/>
              </a:lnSpc>
              <a:buFont typeface="Arial"/>
              <a:buChar char="•"/>
            </a:pPr>
            <a:r>
              <a:rPr lang="en-US" sz="39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</a:t>
            </a:r>
            <a:r>
              <a:rPr lang="en-US" sz="39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nal</a:t>
            </a:r>
            <a:r>
              <a:rPr lang="en-US" sz="39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Node → Test on an attribute.</a:t>
            </a:r>
          </a:p>
          <a:p>
            <a:pPr algn="l" marL="844774" indent="-422387" lvl="1">
              <a:lnSpc>
                <a:spcPts val="6182"/>
              </a:lnSpc>
              <a:buFont typeface="Arial"/>
              <a:buChar char="•"/>
            </a:pPr>
            <a:r>
              <a:rPr lang="en-US" sz="39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</a:t>
            </a:r>
            <a:r>
              <a:rPr lang="en-US" sz="39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→ Outcome of the test.</a:t>
            </a:r>
          </a:p>
          <a:p>
            <a:pPr algn="l" marL="844774" indent="-422387" lvl="1">
              <a:lnSpc>
                <a:spcPts val="6182"/>
              </a:lnSpc>
              <a:buFont typeface="Arial"/>
              <a:buChar char="•"/>
            </a:pPr>
            <a:r>
              <a:rPr lang="en-US" sz="39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Leaf Node → Final prediction.</a:t>
            </a:r>
          </a:p>
          <a:p>
            <a:pPr algn="l">
              <a:lnSpc>
                <a:spcPts val="6182"/>
              </a:lnSpc>
            </a:pPr>
            <a:r>
              <a:rPr lang="en-US" sz="391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Entropy</a:t>
            </a:r>
          </a:p>
          <a:p>
            <a:pPr algn="l" marL="844774" indent="-422387" lvl="1">
              <a:lnSpc>
                <a:spcPts val="6182"/>
              </a:lnSpc>
              <a:buFont typeface="Arial"/>
              <a:buChar char="•"/>
            </a:pPr>
            <a:r>
              <a:rPr lang="en-US" sz="39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Measures impurity or randomness in the data</a:t>
            </a:r>
            <a:r>
              <a:rPr lang="en-US" sz="39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9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et.</a:t>
            </a:r>
          </a:p>
          <a:p>
            <a:pPr algn="l" marL="844774" indent="-422387" lvl="1">
              <a:lnSpc>
                <a:spcPts val="6182"/>
              </a:lnSpc>
              <a:buFont typeface="Arial"/>
              <a:buChar char="•"/>
            </a:pPr>
            <a:r>
              <a:rPr lang="en-US" sz="39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391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ower entropy means better classification.</a:t>
            </a:r>
          </a:p>
          <a:p>
            <a:pPr algn="l">
              <a:lnSpc>
                <a:spcPts val="6182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-5400000">
            <a:off x="689962" y="391754"/>
            <a:ext cx="1808531" cy="1714233"/>
            <a:chOff x="0" y="0"/>
            <a:chExt cx="2411374" cy="22856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11349" cy="2285619"/>
            </a:xfrm>
            <a:custGeom>
              <a:avLst/>
              <a:gdLst/>
              <a:ahLst/>
              <a:cxnLst/>
              <a:rect r="r" b="b" t="t" l="l"/>
              <a:pathLst>
                <a:path h="2285619" w="2411349">
                  <a:moveTo>
                    <a:pt x="0" y="0"/>
                  </a:moveTo>
                  <a:lnTo>
                    <a:pt x="2411349" y="0"/>
                  </a:lnTo>
                  <a:lnTo>
                    <a:pt x="2411349" y="2285619"/>
                  </a:lnTo>
                  <a:lnTo>
                    <a:pt x="0" y="2285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0" b="-72061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5400000">
            <a:off x="15447664" y="192453"/>
            <a:ext cx="1659484" cy="1963788"/>
            <a:chOff x="0" y="0"/>
            <a:chExt cx="2212645" cy="26183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594" cy="2618359"/>
            </a:xfrm>
            <a:custGeom>
              <a:avLst/>
              <a:gdLst/>
              <a:ahLst/>
              <a:cxnLst/>
              <a:rect r="r" b="b" t="t" l="l"/>
              <a:pathLst>
                <a:path h="2618359" w="2212594">
                  <a:moveTo>
                    <a:pt x="0" y="0"/>
                  </a:moveTo>
                  <a:lnTo>
                    <a:pt x="2212594" y="0"/>
                  </a:lnTo>
                  <a:lnTo>
                    <a:pt x="2212594" y="2618359"/>
                  </a:lnTo>
                  <a:lnTo>
                    <a:pt x="0" y="2618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t="-325541" r="0" b="-231757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52917" y="7649504"/>
            <a:ext cx="5225455" cy="3217592"/>
          </a:xfrm>
          <a:custGeom>
            <a:avLst/>
            <a:gdLst/>
            <a:ahLst/>
            <a:cxnLst/>
            <a:rect r="r" b="b" t="t" l="l"/>
            <a:pathLst>
              <a:path h="3217592" w="5225455">
                <a:moveTo>
                  <a:pt x="0" y="0"/>
                </a:moveTo>
                <a:lnTo>
                  <a:pt x="5225455" y="0"/>
                </a:lnTo>
                <a:lnTo>
                  <a:pt x="5225455" y="3217592"/>
                </a:lnTo>
                <a:lnTo>
                  <a:pt x="0" y="3217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87460" y="820744"/>
            <a:ext cx="13308052" cy="1332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73"/>
              </a:lnSpc>
            </a:pPr>
            <a:r>
              <a:rPr lang="en-US" b="true" sz="5525">
                <a:solidFill>
                  <a:srgbClr val="2A5D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INFORMATION GAIN &amp; TREE PRUNING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41148" y="2273460"/>
            <a:ext cx="14605704" cy="722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8"/>
              </a:lnSpc>
            </a:pPr>
            <a:r>
              <a:rPr lang="en-US" sz="327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Information Gain</a:t>
            </a:r>
          </a:p>
          <a:p>
            <a:pPr algn="l" marL="706710" indent="-353355" lvl="1">
              <a:lnSpc>
                <a:spcPts val="6448"/>
              </a:lnSpc>
              <a:buFont typeface="Arial"/>
              <a:buChar char="•"/>
            </a:pPr>
            <a:r>
              <a:rPr lang="en-US" sz="32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32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32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32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32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ure</a:t>
            </a:r>
            <a:r>
              <a:rPr lang="en-US" sz="32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the reduction in entropy after splitting.</a:t>
            </a:r>
          </a:p>
          <a:p>
            <a:pPr algn="l" marL="706710" indent="-353355" lvl="1">
              <a:lnSpc>
                <a:spcPts val="6448"/>
              </a:lnSpc>
              <a:buFont typeface="Arial"/>
              <a:buChar char="•"/>
            </a:pPr>
            <a:r>
              <a:rPr lang="en-US" sz="32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attribute with the highest information gain is selected as the splitting node.</a:t>
            </a:r>
          </a:p>
          <a:p>
            <a:pPr algn="l">
              <a:lnSpc>
                <a:spcPts val="6448"/>
              </a:lnSpc>
            </a:pPr>
            <a:r>
              <a:rPr lang="en-US" b="true" sz="327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Tree Pruning</a:t>
            </a:r>
          </a:p>
          <a:p>
            <a:pPr algn="l" marL="706710" indent="-353355" lvl="1">
              <a:lnSpc>
                <a:spcPts val="6448"/>
              </a:lnSpc>
              <a:buFont typeface="Arial"/>
              <a:buChar char="•"/>
            </a:pPr>
            <a:r>
              <a:rPr lang="en-US" sz="32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</a:t>
            </a:r>
            <a:r>
              <a:rPr lang="en-US" sz="32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32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ves unnecessary branches.</a:t>
            </a:r>
          </a:p>
          <a:p>
            <a:pPr algn="l" marL="706710" indent="-353355" lvl="1">
              <a:lnSpc>
                <a:spcPts val="6448"/>
              </a:lnSpc>
              <a:buFont typeface="Arial"/>
              <a:buChar char="•"/>
            </a:pPr>
            <a:r>
              <a:rPr lang="en-US" sz="32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overfitting.</a:t>
            </a:r>
          </a:p>
          <a:p>
            <a:pPr algn="l" marL="706710" indent="-353355" lvl="1">
              <a:lnSpc>
                <a:spcPts val="6448"/>
              </a:lnSpc>
              <a:buFont typeface="Arial"/>
              <a:buChar char="•"/>
            </a:pPr>
            <a:r>
              <a:rPr lang="en-US" sz="32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model accuracy.</a:t>
            </a:r>
          </a:p>
          <a:p>
            <a:pPr algn="l" marL="706710" indent="-353355" lvl="1">
              <a:lnSpc>
                <a:spcPts val="6448"/>
              </a:lnSpc>
              <a:buFont typeface="Arial"/>
              <a:buChar char="•"/>
            </a:pPr>
            <a:r>
              <a:rPr lang="en-US" sz="32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Makes the tree simpler and faster.</a:t>
            </a:r>
          </a:p>
          <a:p>
            <a:pPr algn="l">
              <a:lnSpc>
                <a:spcPts val="6448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-5400000">
            <a:off x="689962" y="391754"/>
            <a:ext cx="1808531" cy="1714233"/>
            <a:chOff x="0" y="0"/>
            <a:chExt cx="2411374" cy="22856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11349" cy="2285619"/>
            </a:xfrm>
            <a:custGeom>
              <a:avLst/>
              <a:gdLst/>
              <a:ahLst/>
              <a:cxnLst/>
              <a:rect r="r" b="b" t="t" l="l"/>
              <a:pathLst>
                <a:path h="2285619" w="2411349">
                  <a:moveTo>
                    <a:pt x="0" y="0"/>
                  </a:moveTo>
                  <a:lnTo>
                    <a:pt x="2411349" y="0"/>
                  </a:lnTo>
                  <a:lnTo>
                    <a:pt x="2411349" y="2285619"/>
                  </a:lnTo>
                  <a:lnTo>
                    <a:pt x="0" y="2285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0" b="-72061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5400000">
            <a:off x="15447664" y="192453"/>
            <a:ext cx="1659484" cy="1963788"/>
            <a:chOff x="0" y="0"/>
            <a:chExt cx="2212645" cy="26183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594" cy="2618359"/>
            </a:xfrm>
            <a:custGeom>
              <a:avLst/>
              <a:gdLst/>
              <a:ahLst/>
              <a:cxnLst/>
              <a:rect r="r" b="b" t="t" l="l"/>
              <a:pathLst>
                <a:path h="2618359" w="2212594">
                  <a:moveTo>
                    <a:pt x="0" y="0"/>
                  </a:moveTo>
                  <a:lnTo>
                    <a:pt x="2212594" y="0"/>
                  </a:lnTo>
                  <a:lnTo>
                    <a:pt x="2212594" y="2618359"/>
                  </a:lnTo>
                  <a:lnTo>
                    <a:pt x="0" y="2618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t="-325541" r="0" b="-231757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52917" y="7649504"/>
            <a:ext cx="5225455" cy="3217592"/>
          </a:xfrm>
          <a:custGeom>
            <a:avLst/>
            <a:gdLst/>
            <a:ahLst/>
            <a:cxnLst/>
            <a:rect r="r" b="b" t="t" l="l"/>
            <a:pathLst>
              <a:path h="3217592" w="5225455">
                <a:moveTo>
                  <a:pt x="0" y="0"/>
                </a:moveTo>
                <a:lnTo>
                  <a:pt x="5225455" y="0"/>
                </a:lnTo>
                <a:lnTo>
                  <a:pt x="5225455" y="3217592"/>
                </a:lnTo>
                <a:lnTo>
                  <a:pt x="0" y="3217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15545" y="681039"/>
            <a:ext cx="16143755" cy="761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b="true" sz="5999">
                <a:solidFill>
                  <a:srgbClr val="2A5D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APPLICATIONS &amp; 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51344" y="1765964"/>
            <a:ext cx="16744016" cy="2020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20"/>
              </a:lnSpc>
            </a:pPr>
            <a:r>
              <a:rPr lang="en-US" sz="29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Applications</a:t>
            </a:r>
          </a:p>
          <a:p>
            <a:pPr algn="l" marL="626897" indent="-313449" lvl="1">
              <a:lnSpc>
                <a:spcPts val="5720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Medical diagnosis</a:t>
            </a:r>
          </a:p>
          <a:p>
            <a:pPr algn="l" marL="626897" indent="-313449" lvl="1">
              <a:lnSpc>
                <a:spcPts val="5720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Loan approval</a:t>
            </a:r>
          </a:p>
          <a:p>
            <a:pPr algn="l" marL="626897" indent="-313449" lvl="1">
              <a:lnSpc>
                <a:spcPts val="5720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Fraud detection</a:t>
            </a:r>
          </a:p>
          <a:p>
            <a:pPr algn="l" marL="626897" indent="-313449" lvl="1">
              <a:lnSpc>
                <a:spcPts val="5720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segmentation</a:t>
            </a:r>
          </a:p>
          <a:p>
            <a:pPr algn="l" marL="626897" indent="-313449" lvl="1">
              <a:lnSpc>
                <a:spcPts val="5720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 spam filtering &amp; Risk assessment</a:t>
            </a:r>
          </a:p>
          <a:p>
            <a:pPr algn="l">
              <a:lnSpc>
                <a:spcPts val="5720"/>
              </a:lnSpc>
            </a:pPr>
            <a:r>
              <a:rPr lang="en-US" sz="29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  <a:p>
            <a:pPr algn="l" marL="626897" indent="-313449" lvl="1">
              <a:lnSpc>
                <a:spcPts val="5720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Trees are simple, interpretable, and effective machine learning models.</a:t>
            </a:r>
          </a:p>
          <a:p>
            <a:pPr algn="l" marL="626897" indent="-313449" lvl="1">
              <a:lnSpc>
                <a:spcPts val="5720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use entropy and information gain to build decision rules.</a:t>
            </a:r>
          </a:p>
          <a:p>
            <a:pPr algn="l" marL="626897" indent="-313449" lvl="1">
              <a:lnSpc>
                <a:spcPts val="5720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pruning improves generalization by reducing overfitting.</a:t>
            </a:r>
          </a:p>
          <a:p>
            <a:pPr algn="l" marL="626897" indent="-313449" lvl="1">
              <a:lnSpc>
                <a:spcPts val="5720"/>
              </a:lnSpc>
              <a:buFont typeface="Arial"/>
              <a:buChar char="•"/>
            </a:pPr>
            <a:r>
              <a:rPr lang="en-US" sz="29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Widely used for classification and decision-making tasks.</a:t>
            </a:r>
          </a:p>
          <a:p>
            <a:pPr algn="l">
              <a:lnSpc>
                <a:spcPts val="5720"/>
              </a:lnSpc>
            </a:pPr>
          </a:p>
          <a:p>
            <a:pPr algn="l">
              <a:lnSpc>
                <a:spcPts val="5720"/>
              </a:lnSpc>
            </a:pPr>
          </a:p>
          <a:p>
            <a:pPr algn="l">
              <a:lnSpc>
                <a:spcPts val="5720"/>
              </a:lnSpc>
            </a:pPr>
          </a:p>
          <a:p>
            <a:pPr algn="l">
              <a:lnSpc>
                <a:spcPts val="5720"/>
              </a:lnSpc>
            </a:pPr>
          </a:p>
          <a:p>
            <a:pPr algn="l">
              <a:lnSpc>
                <a:spcPts val="5720"/>
              </a:lnSpc>
            </a:pPr>
          </a:p>
          <a:p>
            <a:pPr algn="l">
              <a:lnSpc>
                <a:spcPts val="5720"/>
              </a:lnSpc>
            </a:pPr>
            <a:r>
              <a:rPr lang="en-US" sz="29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x₁</a:t>
            </a:r>
          </a:p>
          <a:p>
            <a:pPr algn="l">
              <a:lnSpc>
                <a:spcPts val="5720"/>
              </a:lnSpc>
            </a:pPr>
          </a:p>
          <a:p>
            <a:pPr algn="l">
              <a:lnSpc>
                <a:spcPts val="5720"/>
              </a:lnSpc>
            </a:pPr>
          </a:p>
          <a:p>
            <a:pPr algn="l">
              <a:lnSpc>
                <a:spcPts val="5720"/>
              </a:lnSpc>
            </a:pPr>
            <a:r>
              <a:rPr lang="en-US" sz="29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x₁</a:t>
            </a:r>
          </a:p>
          <a:p>
            <a:pPr algn="l">
              <a:lnSpc>
                <a:spcPts val="5720"/>
              </a:lnSpc>
            </a:pPr>
            <a:r>
              <a:rPr lang="en-US" sz="29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x₂</a:t>
            </a:r>
          </a:p>
          <a:p>
            <a:pPr algn="l">
              <a:lnSpc>
                <a:spcPts val="5720"/>
              </a:lnSpc>
            </a:pPr>
          </a:p>
          <a:p>
            <a:pPr algn="l">
              <a:lnSpc>
                <a:spcPts val="5720"/>
              </a:lnSpc>
            </a:pPr>
          </a:p>
          <a:p>
            <a:pPr algn="l">
              <a:lnSpc>
                <a:spcPts val="5720"/>
              </a:lnSpc>
            </a:pPr>
            <a:r>
              <a:rPr lang="en-US" sz="290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x₂</a:t>
            </a:r>
          </a:p>
          <a:p>
            <a:pPr algn="l">
              <a:lnSpc>
                <a:spcPts val="5720"/>
              </a:lnSpc>
            </a:pPr>
          </a:p>
          <a:p>
            <a:pPr algn="l">
              <a:lnSpc>
                <a:spcPts val="5720"/>
              </a:lnSpc>
            </a:pPr>
          </a:p>
          <a:p>
            <a:pPr algn="l">
              <a:lnSpc>
                <a:spcPts val="5720"/>
              </a:lnSpc>
            </a:pPr>
          </a:p>
          <a:p>
            <a:pPr algn="l">
              <a:lnSpc>
                <a:spcPts val="572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-5400000">
            <a:off x="689962" y="391754"/>
            <a:ext cx="1808531" cy="1714233"/>
            <a:chOff x="0" y="0"/>
            <a:chExt cx="2411374" cy="22856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11349" cy="2285619"/>
            </a:xfrm>
            <a:custGeom>
              <a:avLst/>
              <a:gdLst/>
              <a:ahLst/>
              <a:cxnLst/>
              <a:rect r="r" b="b" t="t" l="l"/>
              <a:pathLst>
                <a:path h="2285619" w="2411349">
                  <a:moveTo>
                    <a:pt x="0" y="0"/>
                  </a:moveTo>
                  <a:lnTo>
                    <a:pt x="2411349" y="0"/>
                  </a:lnTo>
                  <a:lnTo>
                    <a:pt x="2411349" y="2285619"/>
                  </a:lnTo>
                  <a:lnTo>
                    <a:pt x="0" y="22856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0" b="-720618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5400000">
            <a:off x="15447664" y="192453"/>
            <a:ext cx="1659484" cy="1963788"/>
            <a:chOff x="0" y="0"/>
            <a:chExt cx="2212645" cy="261838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2594" cy="2618359"/>
            </a:xfrm>
            <a:custGeom>
              <a:avLst/>
              <a:gdLst/>
              <a:ahLst/>
              <a:cxnLst/>
              <a:rect r="r" b="b" t="t" l="l"/>
              <a:pathLst>
                <a:path h="2618359" w="2212594">
                  <a:moveTo>
                    <a:pt x="0" y="0"/>
                  </a:moveTo>
                  <a:lnTo>
                    <a:pt x="2212594" y="0"/>
                  </a:lnTo>
                  <a:lnTo>
                    <a:pt x="2212594" y="2618359"/>
                  </a:lnTo>
                  <a:lnTo>
                    <a:pt x="0" y="2618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" t="-325541" r="0" b="-231757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52917" y="7649504"/>
            <a:ext cx="5225455" cy="3217592"/>
          </a:xfrm>
          <a:custGeom>
            <a:avLst/>
            <a:gdLst/>
            <a:ahLst/>
            <a:cxnLst/>
            <a:rect r="r" b="b" t="t" l="l"/>
            <a:pathLst>
              <a:path h="3217592" w="5225455">
                <a:moveTo>
                  <a:pt x="0" y="0"/>
                </a:moveTo>
                <a:lnTo>
                  <a:pt x="5225455" y="0"/>
                </a:lnTo>
                <a:lnTo>
                  <a:pt x="5225455" y="3217592"/>
                </a:lnTo>
                <a:lnTo>
                  <a:pt x="0" y="3217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54254" y="3409950"/>
            <a:ext cx="11179492" cy="385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9"/>
              </a:lnSpc>
            </a:pPr>
            <a:r>
              <a:rPr lang="en-US" sz="15999">
                <a:solidFill>
                  <a:srgbClr val="2A5D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</a:t>
            </a:r>
          </a:p>
          <a:p>
            <a:pPr algn="ctr">
              <a:lnSpc>
                <a:spcPts val="14399"/>
              </a:lnSpc>
            </a:pPr>
            <a:r>
              <a:rPr lang="en-US" sz="15999">
                <a:solidFill>
                  <a:srgbClr val="2A5D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DAHP5z07DqM</dc:identifier>
  <dcterms:modified xsi:type="dcterms:W3CDTF">2011-08-01T06:04:30Z</dcterms:modified>
  <cp:revision>1</cp:revision>
  <dc:title>mltp_MoshithaK</dc:title>
</cp:coreProperties>
</file>